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634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62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2060377"/>
            <a:ext cx="7477601" cy="18037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101"/>
              </a:lnSpc>
              <a:buNone/>
            </a:pPr>
            <a:r>
              <a:rPr lang="en-US" sz="568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Construction of a Detached House</a:t>
            </a:r>
            <a:endParaRPr lang="en-US" sz="5681" dirty="0"/>
          </a:p>
        </p:txBody>
      </p:sp>
      <p:sp>
        <p:nvSpPr>
          <p:cNvPr id="6" name="Text 3"/>
          <p:cNvSpPr/>
          <p:nvPr/>
        </p:nvSpPr>
        <p:spPr>
          <a:xfrm>
            <a:off x="833199" y="4197429"/>
            <a:ext cx="7477601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This detailed outline covers the construction of a detached house, from the initial site preparation to the final interior works. The project is scheduled to be completed in 130 days, with a target end date of 20/12/2024.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042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1376124"/>
            <a:ext cx="5228153" cy="6534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146"/>
              </a:lnSpc>
              <a:buNone/>
            </a:pPr>
            <a:r>
              <a:rPr lang="en-US" sz="4117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External Works</a:t>
            </a:r>
            <a:endParaRPr lang="en-US" sz="4117" dirty="0"/>
          </a:p>
        </p:txBody>
      </p:sp>
      <p:sp>
        <p:nvSpPr>
          <p:cNvPr id="6" name="Shape 3"/>
          <p:cNvSpPr/>
          <p:nvPr/>
        </p:nvSpPr>
        <p:spPr>
          <a:xfrm>
            <a:off x="1152644" y="2362795"/>
            <a:ext cx="27742" cy="4490561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7" name="Shape 4"/>
          <p:cNvSpPr/>
          <p:nvPr/>
        </p:nvSpPr>
        <p:spPr>
          <a:xfrm>
            <a:off x="1416427" y="2848749"/>
            <a:ext cx="777597" cy="27742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8" name="Shape 5"/>
          <p:cNvSpPr/>
          <p:nvPr/>
        </p:nvSpPr>
        <p:spPr>
          <a:xfrm>
            <a:off x="916484" y="2612708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21D4C"/>
          </a:solidFill>
          <a:ln/>
        </p:spPr>
      </p:sp>
      <p:sp>
        <p:nvSpPr>
          <p:cNvPr id="9" name="Text 6"/>
          <p:cNvSpPr/>
          <p:nvPr/>
        </p:nvSpPr>
        <p:spPr>
          <a:xfrm>
            <a:off x="1116390" y="2666643"/>
            <a:ext cx="100132" cy="3920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88"/>
              </a:lnSpc>
              <a:buNone/>
            </a:pPr>
            <a:r>
              <a:rPr lang="en-US" sz="247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2470" dirty="0"/>
          </a:p>
        </p:txBody>
      </p:sp>
      <p:sp>
        <p:nvSpPr>
          <p:cNvPr id="10" name="Text 7"/>
          <p:cNvSpPr/>
          <p:nvPr/>
        </p:nvSpPr>
        <p:spPr>
          <a:xfrm>
            <a:off x="2388513" y="2584966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73"/>
              </a:lnSpc>
              <a:buNone/>
            </a:pPr>
            <a:r>
              <a:rPr lang="en-US" sz="2058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Site Preparation</a:t>
            </a:r>
            <a:endParaRPr lang="en-US" sz="2058" dirty="0"/>
          </a:p>
        </p:txBody>
      </p:sp>
      <p:sp>
        <p:nvSpPr>
          <p:cNvPr id="11" name="Text 8"/>
          <p:cNvSpPr/>
          <p:nvPr/>
        </p:nvSpPr>
        <p:spPr>
          <a:xfrm>
            <a:off x="2388513" y="3045023"/>
            <a:ext cx="7751088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Clear the lot, strip the topsoil, and excavate the area for the foundation.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1416427" y="4308574"/>
            <a:ext cx="777597" cy="27742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13" name="Shape 10"/>
          <p:cNvSpPr/>
          <p:nvPr/>
        </p:nvSpPr>
        <p:spPr>
          <a:xfrm>
            <a:off x="916484" y="4072533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21D4C"/>
          </a:solidFill>
          <a:ln/>
        </p:spPr>
      </p:sp>
      <p:sp>
        <p:nvSpPr>
          <p:cNvPr id="14" name="Text 11"/>
          <p:cNvSpPr/>
          <p:nvPr/>
        </p:nvSpPr>
        <p:spPr>
          <a:xfrm>
            <a:off x="1086624" y="4126468"/>
            <a:ext cx="159663" cy="3920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88"/>
              </a:lnSpc>
              <a:buNone/>
            </a:pPr>
            <a:r>
              <a:rPr lang="en-US" sz="247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2470" dirty="0"/>
          </a:p>
        </p:txBody>
      </p:sp>
      <p:sp>
        <p:nvSpPr>
          <p:cNvPr id="15" name="Text 12"/>
          <p:cNvSpPr/>
          <p:nvPr/>
        </p:nvSpPr>
        <p:spPr>
          <a:xfrm>
            <a:off x="2388513" y="4044791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73"/>
              </a:lnSpc>
              <a:buNone/>
            </a:pPr>
            <a:r>
              <a:rPr lang="en-US" sz="2058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Utilities Installation</a:t>
            </a:r>
            <a:endParaRPr lang="en-US" sz="2058" dirty="0"/>
          </a:p>
        </p:txBody>
      </p:sp>
      <p:sp>
        <p:nvSpPr>
          <p:cNvPr id="16" name="Text 13"/>
          <p:cNvSpPr/>
          <p:nvPr/>
        </p:nvSpPr>
        <p:spPr>
          <a:xfrm>
            <a:off x="2388513" y="4504849"/>
            <a:ext cx="7751088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Lay down the essential infrastructure for plumbing, electrical, and HVAC systems.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1416427" y="6101655"/>
            <a:ext cx="777597" cy="27742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18" name="Shape 15"/>
          <p:cNvSpPr/>
          <p:nvPr/>
        </p:nvSpPr>
        <p:spPr>
          <a:xfrm>
            <a:off x="916484" y="5865614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21D4C"/>
          </a:solidFill>
          <a:ln/>
        </p:spPr>
      </p:sp>
      <p:sp>
        <p:nvSpPr>
          <p:cNvPr id="19" name="Text 16"/>
          <p:cNvSpPr/>
          <p:nvPr/>
        </p:nvSpPr>
        <p:spPr>
          <a:xfrm>
            <a:off x="1084957" y="5919549"/>
            <a:ext cx="162878" cy="3920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88"/>
              </a:lnSpc>
              <a:buNone/>
            </a:pPr>
            <a:r>
              <a:rPr lang="en-US" sz="247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2470" dirty="0"/>
          </a:p>
        </p:txBody>
      </p:sp>
      <p:sp>
        <p:nvSpPr>
          <p:cNvPr id="20" name="Text 17"/>
          <p:cNvSpPr/>
          <p:nvPr/>
        </p:nvSpPr>
        <p:spPr>
          <a:xfrm>
            <a:off x="2388513" y="5837873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73"/>
              </a:lnSpc>
              <a:buNone/>
            </a:pPr>
            <a:r>
              <a:rPr lang="en-US" sz="2058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Landscaping</a:t>
            </a:r>
            <a:endParaRPr lang="en-US" sz="2058" dirty="0"/>
          </a:p>
        </p:txBody>
      </p:sp>
      <p:sp>
        <p:nvSpPr>
          <p:cNvPr id="21" name="Text 18"/>
          <p:cNvSpPr/>
          <p:nvPr/>
        </p:nvSpPr>
        <p:spPr>
          <a:xfrm>
            <a:off x="2388513" y="6297930"/>
            <a:ext cx="7751088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Perform initial landscaping to shape the land around the construction site.</a:t>
            </a:r>
            <a:endParaRPr lang="en-US" sz="175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sp>
        <p:nvSpPr>
          <p:cNvPr id="4" name="Text 2"/>
          <p:cNvSpPr/>
          <p:nvPr/>
        </p:nvSpPr>
        <p:spPr>
          <a:xfrm>
            <a:off x="2348389" y="2636044"/>
            <a:ext cx="5228153" cy="6534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146"/>
              </a:lnSpc>
              <a:buNone/>
            </a:pPr>
            <a:r>
              <a:rPr lang="en-US" sz="4117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Structural Works</a:t>
            </a:r>
            <a:endParaRPr lang="en-US" sz="4117" dirty="0"/>
          </a:p>
        </p:txBody>
      </p:sp>
      <p:sp>
        <p:nvSpPr>
          <p:cNvPr id="5" name="Text 3"/>
          <p:cNvSpPr/>
          <p:nvPr/>
        </p:nvSpPr>
        <p:spPr>
          <a:xfrm>
            <a:off x="2348389" y="3844885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73"/>
              </a:lnSpc>
              <a:buNone/>
            </a:pPr>
            <a:r>
              <a:rPr lang="en-US" sz="2058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Foundation</a:t>
            </a:r>
            <a:endParaRPr lang="en-US" sz="2058" dirty="0"/>
          </a:p>
        </p:txBody>
      </p:sp>
      <p:sp>
        <p:nvSpPr>
          <p:cNvPr id="6" name="Text 4"/>
          <p:cNvSpPr/>
          <p:nvPr/>
        </p:nvSpPr>
        <p:spPr>
          <a:xfrm>
            <a:off x="2348389" y="4393883"/>
            <a:ext cx="2949416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Excavate, lay, and prepare the basement slab and walls.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847398" y="3844885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73"/>
              </a:lnSpc>
              <a:buNone/>
            </a:pPr>
            <a:r>
              <a:rPr lang="en-US" sz="2058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Framing</a:t>
            </a:r>
            <a:endParaRPr lang="en-US" sz="2058" dirty="0"/>
          </a:p>
        </p:txBody>
      </p:sp>
      <p:sp>
        <p:nvSpPr>
          <p:cNvPr id="8" name="Text 6"/>
          <p:cNvSpPr/>
          <p:nvPr/>
        </p:nvSpPr>
        <p:spPr>
          <a:xfrm>
            <a:off x="5847398" y="4393883"/>
            <a:ext cx="2949416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Raise the walls and floors for the ground, first, and potentially additional levels.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346406" y="3844885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73"/>
              </a:lnSpc>
              <a:buNone/>
            </a:pPr>
            <a:r>
              <a:rPr lang="en-US" sz="2058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Landscaping Masonry</a:t>
            </a:r>
            <a:endParaRPr lang="en-US" sz="2058" dirty="0"/>
          </a:p>
        </p:txBody>
      </p:sp>
      <p:sp>
        <p:nvSpPr>
          <p:cNvPr id="10" name="Text 8"/>
          <p:cNvSpPr/>
          <p:nvPr/>
        </p:nvSpPr>
        <p:spPr>
          <a:xfrm>
            <a:off x="9346406" y="4393883"/>
            <a:ext cx="2949416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Perform masonry work related to landscaping around the house.</a:t>
            </a:r>
            <a:endParaRPr lang="en-US" sz="175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sp>
        <p:nvSpPr>
          <p:cNvPr id="4" name="Text 2"/>
          <p:cNvSpPr/>
          <p:nvPr/>
        </p:nvSpPr>
        <p:spPr>
          <a:xfrm>
            <a:off x="2348389" y="1717238"/>
            <a:ext cx="5228153" cy="6534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146"/>
              </a:lnSpc>
              <a:buNone/>
            </a:pPr>
            <a:r>
              <a:rPr lang="en-US" sz="4117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Exterior Finishing</a:t>
            </a:r>
            <a:endParaRPr lang="en-US" sz="4117" dirty="0"/>
          </a:p>
        </p:txBody>
      </p:sp>
      <p:sp>
        <p:nvSpPr>
          <p:cNvPr id="5" name="Shape 3"/>
          <p:cNvSpPr/>
          <p:nvPr/>
        </p:nvSpPr>
        <p:spPr>
          <a:xfrm>
            <a:off x="2348389" y="2814995"/>
            <a:ext cx="3163014" cy="2237423"/>
          </a:xfrm>
          <a:prstGeom prst="roundRect">
            <a:avLst>
              <a:gd name="adj" fmla="val 2979"/>
            </a:avLst>
          </a:prstGeom>
          <a:solidFill>
            <a:srgbClr val="221D4C"/>
          </a:solidFill>
          <a:ln/>
        </p:spPr>
      </p:sp>
      <p:sp>
        <p:nvSpPr>
          <p:cNvPr id="6" name="Text 4"/>
          <p:cNvSpPr/>
          <p:nvPr/>
        </p:nvSpPr>
        <p:spPr>
          <a:xfrm>
            <a:off x="2570559" y="3037165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73"/>
              </a:lnSpc>
              <a:buNone/>
            </a:pPr>
            <a:r>
              <a:rPr lang="en-US" sz="2058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Weatherproofing</a:t>
            </a:r>
            <a:endParaRPr lang="en-US" sz="2058" dirty="0"/>
          </a:p>
        </p:txBody>
      </p:sp>
      <p:sp>
        <p:nvSpPr>
          <p:cNvPr id="7" name="Text 5"/>
          <p:cNvSpPr/>
          <p:nvPr/>
        </p:nvSpPr>
        <p:spPr>
          <a:xfrm>
            <a:off x="2570559" y="3497223"/>
            <a:ext cx="2718673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Ensure the structure is weather-tight with sealing, moisture barriers, and zinc works.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733574" y="2814995"/>
            <a:ext cx="3163014" cy="2237423"/>
          </a:xfrm>
          <a:prstGeom prst="roundRect">
            <a:avLst>
              <a:gd name="adj" fmla="val 2979"/>
            </a:avLst>
          </a:prstGeom>
          <a:solidFill>
            <a:srgbClr val="221D4C"/>
          </a:solidFill>
          <a:ln/>
        </p:spPr>
      </p:sp>
      <p:sp>
        <p:nvSpPr>
          <p:cNvPr id="9" name="Text 7"/>
          <p:cNvSpPr/>
          <p:nvPr/>
        </p:nvSpPr>
        <p:spPr>
          <a:xfrm>
            <a:off x="5955744" y="3037165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73"/>
              </a:lnSpc>
              <a:buNone/>
            </a:pPr>
            <a:r>
              <a:rPr lang="en-US" sz="2058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Exterior Joinery</a:t>
            </a:r>
            <a:endParaRPr lang="en-US" sz="2058" dirty="0"/>
          </a:p>
        </p:txBody>
      </p:sp>
      <p:sp>
        <p:nvSpPr>
          <p:cNvPr id="10" name="Text 8"/>
          <p:cNvSpPr/>
          <p:nvPr/>
        </p:nvSpPr>
        <p:spPr>
          <a:xfrm>
            <a:off x="5955744" y="3497223"/>
            <a:ext cx="2718673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Install exterior doors, windows, and other joinery elements.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118759" y="2814995"/>
            <a:ext cx="3163014" cy="2237423"/>
          </a:xfrm>
          <a:prstGeom prst="roundRect">
            <a:avLst>
              <a:gd name="adj" fmla="val 2979"/>
            </a:avLst>
          </a:prstGeom>
          <a:solidFill>
            <a:srgbClr val="221D4C"/>
          </a:solidFill>
          <a:ln/>
        </p:spPr>
      </p:sp>
      <p:sp>
        <p:nvSpPr>
          <p:cNvPr id="12" name="Text 10"/>
          <p:cNvSpPr/>
          <p:nvPr/>
        </p:nvSpPr>
        <p:spPr>
          <a:xfrm>
            <a:off x="9340929" y="3037165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73"/>
              </a:lnSpc>
              <a:buNone/>
            </a:pPr>
            <a:r>
              <a:rPr lang="en-US" sz="2058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Landscaping</a:t>
            </a:r>
            <a:endParaRPr lang="en-US" sz="2058" dirty="0"/>
          </a:p>
        </p:txBody>
      </p:sp>
      <p:sp>
        <p:nvSpPr>
          <p:cNvPr id="13" name="Text 11"/>
          <p:cNvSpPr/>
          <p:nvPr/>
        </p:nvSpPr>
        <p:spPr>
          <a:xfrm>
            <a:off x="9340929" y="3497223"/>
            <a:ext cx="2718673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Lay gravel and build a pergola structure, if applicable.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2348389" y="5274588"/>
            <a:ext cx="9933503" cy="1237655"/>
          </a:xfrm>
          <a:prstGeom prst="roundRect">
            <a:avLst>
              <a:gd name="adj" fmla="val 5386"/>
            </a:avLst>
          </a:prstGeom>
          <a:solidFill>
            <a:srgbClr val="221D4C"/>
          </a:solidFill>
          <a:ln/>
        </p:spPr>
      </p:sp>
      <p:sp>
        <p:nvSpPr>
          <p:cNvPr id="15" name="Text 13"/>
          <p:cNvSpPr/>
          <p:nvPr/>
        </p:nvSpPr>
        <p:spPr>
          <a:xfrm>
            <a:off x="2570559" y="5496758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73"/>
              </a:lnSpc>
              <a:buNone/>
            </a:pPr>
            <a:endParaRPr lang="en-US" sz="2058" dirty="0"/>
          </a:p>
        </p:txBody>
      </p:sp>
      <p:sp>
        <p:nvSpPr>
          <p:cNvPr id="16" name="Text 14"/>
          <p:cNvSpPr/>
          <p:nvPr/>
        </p:nvSpPr>
        <p:spPr>
          <a:xfrm>
            <a:off x="2570559" y="5956816"/>
            <a:ext cx="9489162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endParaRPr lang="en-US" sz="175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042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955238"/>
            <a:ext cx="5228153" cy="6534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146"/>
              </a:lnSpc>
              <a:buNone/>
            </a:pPr>
            <a:r>
              <a:rPr lang="en-US" sz="4117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Interior Works</a:t>
            </a:r>
            <a:endParaRPr lang="en-US" sz="4117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99" y="1941909"/>
            <a:ext cx="1110972" cy="17774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77428" y="2164080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73"/>
              </a:lnSpc>
              <a:buNone/>
            </a:pPr>
            <a:r>
              <a:rPr lang="en-US" sz="2058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Plaster Work</a:t>
            </a:r>
            <a:endParaRPr lang="en-US" sz="2058" dirty="0"/>
          </a:p>
        </p:txBody>
      </p:sp>
      <p:sp>
        <p:nvSpPr>
          <p:cNvPr id="8" name="Text 4"/>
          <p:cNvSpPr/>
          <p:nvPr/>
        </p:nvSpPr>
        <p:spPr>
          <a:xfrm>
            <a:off x="2277428" y="2624137"/>
            <a:ext cx="7862173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Apply plaster to the interior walls.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99" y="3719393"/>
            <a:ext cx="1110972" cy="17774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77428" y="3941564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73"/>
              </a:lnSpc>
              <a:buNone/>
            </a:pPr>
            <a:r>
              <a:rPr lang="en-US" sz="2058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Partition Installation</a:t>
            </a:r>
            <a:endParaRPr lang="en-US" sz="2058" dirty="0"/>
          </a:p>
        </p:txBody>
      </p:sp>
      <p:sp>
        <p:nvSpPr>
          <p:cNvPr id="11" name="Text 6"/>
          <p:cNvSpPr/>
          <p:nvPr/>
        </p:nvSpPr>
        <p:spPr>
          <a:xfrm>
            <a:off x="2277428" y="4401622"/>
            <a:ext cx="7862173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Frame and build the interior partitions.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199" y="5496878"/>
            <a:ext cx="1110972" cy="17774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77428" y="5719048"/>
            <a:ext cx="2614017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73"/>
              </a:lnSpc>
              <a:buNone/>
            </a:pPr>
            <a:r>
              <a:rPr lang="en-US" sz="2058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Building Services</a:t>
            </a:r>
            <a:endParaRPr lang="en-US" sz="2058" dirty="0"/>
          </a:p>
        </p:txBody>
      </p:sp>
      <p:sp>
        <p:nvSpPr>
          <p:cNvPr id="14" name="Text 8"/>
          <p:cNvSpPr/>
          <p:nvPr/>
        </p:nvSpPr>
        <p:spPr>
          <a:xfrm>
            <a:off x="2277428" y="6179106"/>
            <a:ext cx="7862173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Install the plumbing, HVAC, and electrical systems.</a:t>
            </a:r>
            <a:endParaRPr lang="en-US" sz="175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774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48389" y="3822025"/>
            <a:ext cx="5228153" cy="6534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146"/>
              </a:lnSpc>
              <a:buNone/>
            </a:pPr>
            <a:r>
              <a:rPr lang="en-US" sz="4117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Conclusion</a:t>
            </a:r>
            <a:endParaRPr lang="en-US" sz="4117" dirty="0"/>
          </a:p>
        </p:txBody>
      </p:sp>
      <p:sp>
        <p:nvSpPr>
          <p:cNvPr id="6" name="Shape 3"/>
          <p:cNvSpPr/>
          <p:nvPr/>
        </p:nvSpPr>
        <p:spPr>
          <a:xfrm>
            <a:off x="2348389" y="5058608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21D4C"/>
          </a:solidFill>
          <a:ln/>
        </p:spPr>
      </p:sp>
      <p:sp>
        <p:nvSpPr>
          <p:cNvPr id="7" name="Text 4"/>
          <p:cNvSpPr/>
          <p:nvPr/>
        </p:nvSpPr>
        <p:spPr>
          <a:xfrm>
            <a:off x="2548295" y="5112544"/>
            <a:ext cx="100132" cy="3920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88"/>
              </a:lnSpc>
              <a:buNone/>
            </a:pPr>
            <a:r>
              <a:rPr lang="en-US" sz="247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2470" dirty="0"/>
          </a:p>
        </p:txBody>
      </p:sp>
      <p:sp>
        <p:nvSpPr>
          <p:cNvPr id="8" name="Text 5"/>
          <p:cNvSpPr/>
          <p:nvPr/>
        </p:nvSpPr>
        <p:spPr>
          <a:xfrm>
            <a:off x="3070503" y="5058608"/>
            <a:ext cx="2440900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73"/>
              </a:lnSpc>
              <a:buNone/>
            </a:pPr>
            <a:r>
              <a:rPr lang="en-US" sz="2058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Total Duration</a:t>
            </a:r>
            <a:endParaRPr lang="en-US" sz="2058" dirty="0"/>
          </a:p>
        </p:txBody>
      </p:sp>
      <p:sp>
        <p:nvSpPr>
          <p:cNvPr id="9" name="Text 6"/>
          <p:cNvSpPr/>
          <p:nvPr/>
        </p:nvSpPr>
        <p:spPr>
          <a:xfrm>
            <a:off x="3070503" y="5518666"/>
            <a:ext cx="2440900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130 days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733574" y="5058608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21D4C"/>
          </a:solidFill>
          <a:ln/>
        </p:spPr>
      </p:sp>
      <p:sp>
        <p:nvSpPr>
          <p:cNvPr id="11" name="Text 8"/>
          <p:cNvSpPr/>
          <p:nvPr/>
        </p:nvSpPr>
        <p:spPr>
          <a:xfrm>
            <a:off x="5903714" y="5112544"/>
            <a:ext cx="159663" cy="3920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88"/>
              </a:lnSpc>
              <a:buNone/>
            </a:pPr>
            <a:r>
              <a:rPr lang="en-US" sz="247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2470" dirty="0"/>
          </a:p>
        </p:txBody>
      </p:sp>
      <p:sp>
        <p:nvSpPr>
          <p:cNvPr id="12" name="Text 9"/>
          <p:cNvSpPr/>
          <p:nvPr/>
        </p:nvSpPr>
        <p:spPr>
          <a:xfrm>
            <a:off x="6455688" y="5058608"/>
            <a:ext cx="2440900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73"/>
              </a:lnSpc>
              <a:buNone/>
            </a:pPr>
            <a:r>
              <a:rPr lang="en-US" sz="2058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Completion Date</a:t>
            </a:r>
            <a:endParaRPr lang="en-US" sz="2058" dirty="0"/>
          </a:p>
        </p:txBody>
      </p:sp>
      <p:sp>
        <p:nvSpPr>
          <p:cNvPr id="13" name="Text 10"/>
          <p:cNvSpPr/>
          <p:nvPr/>
        </p:nvSpPr>
        <p:spPr>
          <a:xfrm>
            <a:off x="6455688" y="5518666"/>
            <a:ext cx="2440900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20/12/2024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9118759" y="5058608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21D4C"/>
          </a:solidFill>
          <a:ln/>
        </p:spPr>
      </p:sp>
      <p:sp>
        <p:nvSpPr>
          <p:cNvPr id="15" name="Text 12"/>
          <p:cNvSpPr/>
          <p:nvPr/>
        </p:nvSpPr>
        <p:spPr>
          <a:xfrm>
            <a:off x="9287232" y="5112544"/>
            <a:ext cx="162878" cy="3920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88"/>
              </a:lnSpc>
              <a:buNone/>
            </a:pPr>
            <a:r>
              <a:rPr lang="en-US" sz="247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2470" dirty="0"/>
          </a:p>
        </p:txBody>
      </p:sp>
      <p:sp>
        <p:nvSpPr>
          <p:cNvPr id="16" name="Text 13"/>
          <p:cNvSpPr/>
          <p:nvPr/>
        </p:nvSpPr>
        <p:spPr>
          <a:xfrm>
            <a:off x="9840873" y="5058608"/>
            <a:ext cx="2440900" cy="3268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73"/>
              </a:lnSpc>
              <a:buNone/>
            </a:pPr>
            <a:r>
              <a:rPr lang="en-US" sz="2058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Detailed Schedule</a:t>
            </a:r>
            <a:endParaRPr lang="en-US" sz="2058" dirty="0"/>
          </a:p>
        </p:txBody>
      </p:sp>
      <p:sp>
        <p:nvSpPr>
          <p:cNvPr id="17" name="Text 14"/>
          <p:cNvSpPr/>
          <p:nvPr/>
        </p:nvSpPr>
        <p:spPr>
          <a:xfrm>
            <a:off x="9840873" y="5518666"/>
            <a:ext cx="2440900" cy="166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Ensures the project remains on track with each phase logically following the previous one.</a:t>
            </a:r>
            <a:endParaRPr lang="en-US" sz="175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252</Words>
  <Application>Microsoft Office PowerPoint</Application>
  <PresentationFormat>Personnalisé</PresentationFormat>
  <Paragraphs>49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Kanit</vt:lpstr>
      <vt:lpstr>Martel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isaribas@ad.univ-fcomte.fr</cp:lastModifiedBy>
  <cp:revision>3</cp:revision>
  <dcterms:created xsi:type="dcterms:W3CDTF">2024-06-07T11:10:23Z</dcterms:created>
  <dcterms:modified xsi:type="dcterms:W3CDTF">2024-06-07T14:55:24Z</dcterms:modified>
</cp:coreProperties>
</file>